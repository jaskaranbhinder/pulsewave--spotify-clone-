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2_rId2.png"/><Relationship Id="rId3" Type="http://schemas.openxmlformats.org/officeDocument/2006/relationships/image" Target="../media/s2_rId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7_rId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8_rId2.png"/><Relationship Id="rId3" Type="http://schemas.openxmlformats.org/officeDocument/2006/relationships/image" Target="../media/s8_rId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9_rId2.png"/><Relationship Id="rId3" Type="http://schemas.openxmlformats.org/officeDocument/2006/relationships/image" Target="../media/s9_rId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0_rId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1_rId2.png"/><Relationship Id="rId3" Type="http://schemas.openxmlformats.org/officeDocument/2006/relationships/image" Target="../media/s11_rId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2_rId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FRONT END ENGINEERING-II  /  PROJECT PRESENTATION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Pulsewave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417320"/>
            <a:ext cx="548640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A Spotify-inspired music streaming web application</a:t>
            </a:r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621792" y="2331720"/>
            <a:ext cx="530352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700" b="0">
                <a:solidFill>
                  <a:srgbClr val="B8C1BB"/>
                </a:solidFill>
                <a:latin typeface="Aptos"/>
              </a:rPr>
              <a:t>A frontend demonstration of music discovery, playlists, playback controls, and local audio import.</a:t>
            </a:r>
            <a:endParaRPr lang="en-US"/>
          </a:p>
        </p:txBody>
      </p:sp>
      <p:pic>
        <p:nvPicPr>
          <p:cNvPr id="9" name="Existing player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908" y="3218688"/>
            <a:ext cx="2731008" cy="1536192"/>
          </a:xfrm>
          <a:prstGeom prst="rect">
            <a:avLst/>
          </a:prstGeom>
          <a:ln>
            <a:noFill/>
          </a:ln>
        </p:spPr>
      </p:pic>
      <p:sp>
        <p:nvSpPr>
          <p:cNvPr id="10" name="Text 10"/>
          <p:cNvSpPr/>
          <p:nvPr/>
        </p:nvSpPr>
        <p:spPr>
          <a:xfrm>
            <a:off x="667512" y="4809744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B8C1BB"/>
                </a:solidFill>
                <a:latin typeface="Aptos"/>
              </a:rPr>
              <a:t>Existing project capture • empty player state</a:t>
            </a:r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621792" y="5166360"/>
            <a:ext cx="5349240" cy="804672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  <p:txBody>
          <a:bodyPr wrap="square" lIns="146304" rIns="146304" tIns="146304" bIns="146304">
            <a:spAutoFit/>
          </a:bodyPr>
          <a:lstStyle/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Student: [Your name]</a:t>
            </a:r>
            <a:endParaRPr lang="en-US"/>
          </a:p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Registration no.: [Your registration number]</a:t>
            </a:r>
            <a:endParaRPr lang="en-US"/>
          </a:p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University / Faculty: [Your university and faculty]</a:t>
            </a:r>
            <a:endParaRPr lang="en-US"/>
          </a:p>
        </p:txBody>
      </p:sp>
      <p:sp>
        <p:nvSpPr>
          <p:cNvPr id="12" name="Panel"/>
          <p:cNvSpPr/>
          <p:nvPr/>
        </p:nvSpPr>
        <p:spPr>
          <a:xfrm>
            <a:off x="6336792" y="1417320"/>
            <a:ext cx="5193792" cy="4553712"/>
          </a:xfrm>
          <a:prstGeom prst="roundRect">
            <a:avLst/>
          </a:prstGeom>
          <a:solidFill>
            <a:srgbClr val="163C2C"/>
          </a:solidFill>
          <a:ln>
            <a:noFill/>
          </a:ln>
        </p:spPr>
      </p:sp>
      <p:pic>
        <p:nvPicPr>
          <p:cNvPr id="13" name="Existing public homepage cap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557624"/>
            <a:ext cx="4736592" cy="2254815"/>
          </a:xfrm>
          <a:prstGeom prst="rect">
            <a:avLst/>
          </a:prstGeom>
          <a:ln>
            <a:noFill/>
          </a:ln>
        </p:spPr>
      </p:pic>
      <p:sp>
        <p:nvSpPr>
          <p:cNvPr id="14" name="Text 14"/>
          <p:cNvSpPr/>
          <p:nvPr/>
        </p:nvSpPr>
        <p:spPr>
          <a:xfrm>
            <a:off x="6565392" y="5779008"/>
            <a:ext cx="4736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Existing project captures, not taken during this presentation task.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Project overview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48132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200" b="1">
                <a:solidFill>
                  <a:srgbClr val="F5F7F5"/>
                </a:solidFill>
                <a:latin typeface="Aptos"/>
              </a:rPr>
              <a:t>Pulsewave brings the familiar parts of a music app into one React interface.</a:t>
            </a:r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621792" y="2212848"/>
            <a:ext cx="10744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0">
                <a:solidFill>
                  <a:srgbClr val="B8C1BB"/>
                </a:solidFill>
                <a:latin typeface="Aptos"/>
              </a:rPr>
              <a:t>The project demonstrates how a frontend can organize discovery, playlists, playback controls, personal likes, and music files selected by the listener. It is a local browser experience, not a production streaming service.</a:t>
            </a:r>
            <a:endParaRPr lang="en-US"/>
          </a:p>
        </p:txBody>
      </p:sp>
      <p:sp>
        <p:nvSpPr>
          <p:cNvPr id="9" name="Panel"/>
          <p:cNvSpPr/>
          <p:nvPr/>
        </p:nvSpPr>
        <p:spPr>
          <a:xfrm>
            <a:off x="621792" y="3456432"/>
            <a:ext cx="3493008" cy="1600200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0" name="Panel"/>
          <p:cNvSpPr/>
          <p:nvPr/>
        </p:nvSpPr>
        <p:spPr>
          <a:xfrm>
            <a:off x="786384" y="3621024"/>
            <a:ext cx="41148" cy="1271016"/>
          </a:xfrm>
          <a:prstGeom prst="rect">
            <a:avLst/>
          </a:prstGeom>
          <a:solidFill>
            <a:srgbClr val="71D8BE"/>
          </a:solidFill>
          <a:ln>
            <a:noFill/>
          </a:ln>
        </p:spPr>
      </p:sp>
      <p:sp>
        <p:nvSpPr>
          <p:cNvPr id="11" name="Text 11"/>
          <p:cNvSpPr/>
          <p:nvPr/>
        </p:nvSpPr>
        <p:spPr>
          <a:xfrm>
            <a:off x="932688" y="3639312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Discover</a:t>
            </a:r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932688" y="4050792"/>
            <a:ext cx="2980944" cy="8869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Browse featured tracks, stations, and artist collections.</a:t>
            </a:r>
            <a:endParaRPr lang="en-US"/>
          </a:p>
        </p:txBody>
      </p:sp>
      <p:sp>
        <p:nvSpPr>
          <p:cNvPr id="13" name="Panel"/>
          <p:cNvSpPr/>
          <p:nvPr/>
        </p:nvSpPr>
        <p:spPr>
          <a:xfrm>
            <a:off x="4352544" y="3456432"/>
            <a:ext cx="3493008" cy="1600200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4" name="Panel"/>
          <p:cNvSpPr/>
          <p:nvPr/>
        </p:nvSpPr>
        <p:spPr>
          <a:xfrm>
            <a:off x="4517136" y="3621024"/>
            <a:ext cx="41148" cy="1271016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15" name="Text 15"/>
          <p:cNvSpPr/>
          <p:nvPr/>
        </p:nvSpPr>
        <p:spPr>
          <a:xfrm>
            <a:off x="4663440" y="3639312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Listen</a:t>
            </a:r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4663440" y="4050792"/>
            <a:ext cx="2980944" cy="8869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Choose sample or imported tracks and use shared playback controls.</a:t>
            </a:r>
            <a:endParaRPr lang="en-US"/>
          </a:p>
        </p:txBody>
      </p:sp>
      <p:sp>
        <p:nvSpPr>
          <p:cNvPr id="17" name="Panel"/>
          <p:cNvSpPr/>
          <p:nvPr/>
        </p:nvSpPr>
        <p:spPr>
          <a:xfrm>
            <a:off x="8083296" y="3456432"/>
            <a:ext cx="3493008" cy="1600200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8" name="Panel"/>
          <p:cNvSpPr/>
          <p:nvPr/>
        </p:nvSpPr>
        <p:spPr>
          <a:xfrm>
            <a:off x="8247888" y="3621024"/>
            <a:ext cx="41148" cy="1271016"/>
          </a:xfrm>
          <a:prstGeom prst="rect">
            <a:avLst/>
          </a:prstGeom>
          <a:solidFill>
            <a:srgbClr val="B1A4FF"/>
          </a:solidFill>
          <a:ln>
            <a:noFill/>
          </a:ln>
        </p:spPr>
      </p:sp>
      <p:sp>
        <p:nvSpPr>
          <p:cNvPr id="19" name="Text 19"/>
          <p:cNvSpPr/>
          <p:nvPr/>
        </p:nvSpPr>
        <p:spPr>
          <a:xfrm>
            <a:off x="8394192" y="3639312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Personalize</a:t>
            </a:r>
            <a:endParaRPr lang="en-US"/>
          </a:p>
        </p:txBody>
      </p:sp>
      <p:sp>
        <p:nvSpPr>
          <p:cNvPr id="20" name="Text 20"/>
          <p:cNvSpPr/>
          <p:nvPr/>
        </p:nvSpPr>
        <p:spPr>
          <a:xfrm>
            <a:off x="8394192" y="4050792"/>
            <a:ext cx="2980944" cy="8869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Save likes, queue tracks, and revisit recent playback.</a:t>
            </a:r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621792" y="5596128"/>
            <a:ext cx="10881360" cy="329184"/>
          </a:xfrm>
          <a:prstGeom prst="roundRect">
            <a:avLst/>
          </a:prstGeom>
          <a:solidFill>
            <a:srgbClr val="183C2A"/>
          </a:solidFill>
          <a:ln>
            <a:noFill/>
          </a:ln>
        </p:spPr>
        <p:txBody>
          <a:bodyPr wrap="square" lIns="64008" rIns="64008" tIns="64008" bIns="64008">
            <a:spAutoFit/>
          </a:bodyPr>
          <a:lstStyle/>
          <a:p>
            <a:pPr algn="ctr"/>
            <a:r>
              <a:rPr lang="en-US" sz="1100" b="1">
                <a:solidFill>
                  <a:srgbClr val="1ED760"/>
                </a:solidFill>
                <a:latin typeface="Aptos"/>
              </a:rPr>
              <a:t>FRONTEND DEMO  •  NO STREAMING BACKEND  •  NO REAL ACCOUNT OR PAYMENTS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Project objectives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Panel"/>
          <p:cNvSpPr/>
          <p:nvPr/>
        </p:nvSpPr>
        <p:spPr>
          <a:xfrm>
            <a:off x="621792" y="1572768"/>
            <a:ext cx="3493008" cy="1591056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8" name="Text 8"/>
          <p:cNvSpPr/>
          <p:nvPr/>
        </p:nvSpPr>
        <p:spPr>
          <a:xfrm>
            <a:off x="804672" y="1737360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01</a:t>
            </a:r>
            <a:endParaRPr lang="en-US"/>
          </a:p>
        </p:txBody>
      </p:sp>
      <p:sp>
        <p:nvSpPr>
          <p:cNvPr id="9" name="Text 9"/>
          <p:cNvSpPr/>
          <p:nvPr/>
        </p:nvSpPr>
        <p:spPr>
          <a:xfrm>
            <a:off x="804672" y="211226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Music-player interface</a:t>
            </a:r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804672" y="2542032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Create a dark, familiar desktop listening layout.</a:t>
            </a:r>
            <a:endParaRPr lang="en-US"/>
          </a:p>
        </p:txBody>
      </p:sp>
      <p:sp>
        <p:nvSpPr>
          <p:cNvPr id="11" name="Panel"/>
          <p:cNvSpPr/>
          <p:nvPr/>
        </p:nvSpPr>
        <p:spPr>
          <a:xfrm>
            <a:off x="4352544" y="1572768"/>
            <a:ext cx="3493008" cy="1591056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2" name="Text 12"/>
          <p:cNvSpPr/>
          <p:nvPr/>
        </p:nvSpPr>
        <p:spPr>
          <a:xfrm>
            <a:off x="4535424" y="1737360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02</a:t>
            </a:r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4535424" y="211226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Component-based React</a:t>
            </a:r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4535424" y="2542032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Separate public pages, player views, and shared state.</a:t>
            </a:r>
            <a:endParaRPr lang="en-US"/>
          </a:p>
        </p:txBody>
      </p:sp>
      <p:sp>
        <p:nvSpPr>
          <p:cNvPr id="15" name="Panel"/>
          <p:cNvSpPr/>
          <p:nvPr/>
        </p:nvSpPr>
        <p:spPr>
          <a:xfrm>
            <a:off x="8083296" y="1572768"/>
            <a:ext cx="3493008" cy="1591056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6" name="Text 16"/>
          <p:cNvSpPr/>
          <p:nvPr/>
        </p:nvSpPr>
        <p:spPr>
          <a:xfrm>
            <a:off x="8266176" y="1737360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03</a:t>
            </a:r>
            <a:endParaRPr lang="en-US"/>
          </a:p>
        </p:txBody>
      </p:sp>
      <p:sp>
        <p:nvSpPr>
          <p:cNvPr id="17" name="Text 17"/>
          <p:cNvSpPr/>
          <p:nvPr/>
        </p:nvSpPr>
        <p:spPr>
          <a:xfrm>
            <a:off x="8266176" y="211226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Interactive navigation</a:t>
            </a:r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8266176" y="2542032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Connect public pages, playlists, search, and player routes.</a:t>
            </a:r>
            <a:endParaRPr lang="en-US"/>
          </a:p>
        </p:txBody>
      </p:sp>
      <p:sp>
        <p:nvSpPr>
          <p:cNvPr id="19" name="Panel"/>
          <p:cNvSpPr/>
          <p:nvPr/>
        </p:nvSpPr>
        <p:spPr>
          <a:xfrm>
            <a:off x="621792" y="3557016"/>
            <a:ext cx="3493008" cy="1591056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0" name="Text 20"/>
          <p:cNvSpPr/>
          <p:nvPr/>
        </p:nvSpPr>
        <p:spPr>
          <a:xfrm>
            <a:off x="804672" y="3721608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04</a:t>
            </a:r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804672" y="409651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Track discovery</a:t>
            </a:r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804672" y="4526280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Present demo tracks, stations, and playlist collections.</a:t>
            </a:r>
            <a:endParaRPr lang="en-US"/>
          </a:p>
        </p:txBody>
      </p:sp>
      <p:sp>
        <p:nvSpPr>
          <p:cNvPr id="23" name="Panel"/>
          <p:cNvSpPr/>
          <p:nvPr/>
        </p:nvSpPr>
        <p:spPr>
          <a:xfrm>
            <a:off x="4352544" y="3557016"/>
            <a:ext cx="3493008" cy="1591056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4" name="Text 24"/>
          <p:cNvSpPr/>
          <p:nvPr/>
        </p:nvSpPr>
        <p:spPr>
          <a:xfrm>
            <a:off x="4535424" y="3721608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05</a:t>
            </a:r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4535424" y="409651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User preferences</a:t>
            </a:r>
            <a:endParaRPr lang="en-US"/>
          </a:p>
        </p:txBody>
      </p:sp>
      <p:sp>
        <p:nvSpPr>
          <p:cNvPr id="26" name="Text 26"/>
          <p:cNvSpPr/>
          <p:nvPr/>
        </p:nvSpPr>
        <p:spPr>
          <a:xfrm>
            <a:off x="4535424" y="4526280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Persist likes, recent tracks, and volume in the browser.</a:t>
            </a:r>
            <a:endParaRPr lang="en-US"/>
          </a:p>
        </p:txBody>
      </p:sp>
      <p:sp>
        <p:nvSpPr>
          <p:cNvPr id="27" name="Panel"/>
          <p:cNvSpPr/>
          <p:nvPr/>
        </p:nvSpPr>
        <p:spPr>
          <a:xfrm>
            <a:off x="8083296" y="3557016"/>
            <a:ext cx="3493008" cy="1591056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8" name="Text 28"/>
          <p:cNvSpPr/>
          <p:nvPr/>
        </p:nvSpPr>
        <p:spPr>
          <a:xfrm>
            <a:off x="8266176" y="3721608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06</a:t>
            </a:r>
            <a:endParaRPr lang="en-US"/>
          </a:p>
        </p:txBody>
      </p:sp>
      <p:sp>
        <p:nvSpPr>
          <p:cNvPr id="29" name="Text 29"/>
          <p:cNvSpPr/>
          <p:nvPr/>
        </p:nvSpPr>
        <p:spPr>
          <a:xfrm>
            <a:off x="8266176" y="409651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Local music</a:t>
            </a:r>
            <a:endParaRPr lang="en-US"/>
          </a:p>
        </p:txBody>
      </p:sp>
      <p:sp>
        <p:nvSpPr>
          <p:cNvPr id="30" name="Text 30"/>
          <p:cNvSpPr/>
          <p:nvPr/>
        </p:nvSpPr>
        <p:spPr>
          <a:xfrm>
            <a:off x="8266176" y="4526280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Read supported audio files and available ID3 metadata locally.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Technology stack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Panel"/>
          <p:cNvSpPr/>
          <p:nvPr/>
        </p:nvSpPr>
        <p:spPr>
          <a:xfrm>
            <a:off x="621792" y="1499616"/>
            <a:ext cx="5303520" cy="106070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8" name="Panel"/>
          <p:cNvSpPr/>
          <p:nvPr/>
        </p:nvSpPr>
        <p:spPr>
          <a:xfrm>
            <a:off x="786384" y="1664208"/>
            <a:ext cx="41148" cy="731520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9" name="Text 9"/>
          <p:cNvSpPr/>
          <p:nvPr/>
        </p:nvSpPr>
        <p:spPr>
          <a:xfrm>
            <a:off x="932688" y="1682496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React 19</a:t>
            </a:r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932688" y="2093976"/>
            <a:ext cx="47914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Component rendering and UI composition.</a:t>
            </a:r>
            <a:endParaRPr lang="en-US"/>
          </a:p>
        </p:txBody>
      </p:sp>
      <p:sp>
        <p:nvSpPr>
          <p:cNvPr id="11" name="Panel"/>
          <p:cNvSpPr/>
          <p:nvPr/>
        </p:nvSpPr>
        <p:spPr>
          <a:xfrm>
            <a:off x="6199632" y="1499616"/>
            <a:ext cx="5303520" cy="106070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2" name="Panel"/>
          <p:cNvSpPr/>
          <p:nvPr/>
        </p:nvSpPr>
        <p:spPr>
          <a:xfrm>
            <a:off x="6364224" y="1664208"/>
            <a:ext cx="41148" cy="731520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13" name="Text 13"/>
          <p:cNvSpPr/>
          <p:nvPr/>
        </p:nvSpPr>
        <p:spPr>
          <a:xfrm>
            <a:off x="6510528" y="1682496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JavaScript + JSX</a:t>
            </a:r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6510528" y="2093976"/>
            <a:ext cx="47914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Application logic, event handling, and React markup.</a:t>
            </a:r>
            <a:endParaRPr lang="en-US"/>
          </a:p>
        </p:txBody>
      </p:sp>
      <p:sp>
        <p:nvSpPr>
          <p:cNvPr id="15" name="Panel"/>
          <p:cNvSpPr/>
          <p:nvPr/>
        </p:nvSpPr>
        <p:spPr>
          <a:xfrm>
            <a:off x="621792" y="2843784"/>
            <a:ext cx="5303520" cy="106070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6" name="Panel"/>
          <p:cNvSpPr/>
          <p:nvPr/>
        </p:nvSpPr>
        <p:spPr>
          <a:xfrm>
            <a:off x="786384" y="3008376"/>
            <a:ext cx="41148" cy="731520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17" name="Text 17"/>
          <p:cNvSpPr/>
          <p:nvPr/>
        </p:nvSpPr>
        <p:spPr>
          <a:xfrm>
            <a:off x="932688" y="3026664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CSS</a:t>
            </a:r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932688" y="3438144"/>
            <a:ext cx="47914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Responsive dark interface and component styling.</a:t>
            </a:r>
            <a:endParaRPr lang="en-US"/>
          </a:p>
        </p:txBody>
      </p:sp>
      <p:sp>
        <p:nvSpPr>
          <p:cNvPr id="19" name="Panel"/>
          <p:cNvSpPr/>
          <p:nvPr/>
        </p:nvSpPr>
        <p:spPr>
          <a:xfrm>
            <a:off x="6199632" y="2843784"/>
            <a:ext cx="5303520" cy="106070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0" name="Panel"/>
          <p:cNvSpPr/>
          <p:nvPr/>
        </p:nvSpPr>
        <p:spPr>
          <a:xfrm>
            <a:off x="6364224" y="3008376"/>
            <a:ext cx="41148" cy="731520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21" name="Text 21"/>
          <p:cNvSpPr/>
          <p:nvPr/>
        </p:nvSpPr>
        <p:spPr>
          <a:xfrm>
            <a:off x="6510528" y="3026664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Vite</a:t>
            </a:r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6510528" y="3438144"/>
            <a:ext cx="47914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Development server and production build tooling.</a:t>
            </a:r>
            <a:endParaRPr lang="en-US"/>
          </a:p>
        </p:txBody>
      </p:sp>
      <p:sp>
        <p:nvSpPr>
          <p:cNvPr id="23" name="Panel"/>
          <p:cNvSpPr/>
          <p:nvPr/>
        </p:nvSpPr>
        <p:spPr>
          <a:xfrm>
            <a:off x="621792" y="4187952"/>
            <a:ext cx="5303520" cy="106070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4" name="Panel"/>
          <p:cNvSpPr/>
          <p:nvPr/>
        </p:nvSpPr>
        <p:spPr>
          <a:xfrm>
            <a:off x="786384" y="4352544"/>
            <a:ext cx="41148" cy="731520"/>
          </a:xfrm>
          <a:prstGeom prst="rect">
            <a:avLst/>
          </a:prstGeom>
          <a:solidFill>
            <a:srgbClr val="71D8BE"/>
          </a:solidFill>
          <a:ln>
            <a:noFill/>
          </a:ln>
        </p:spPr>
      </p:sp>
      <p:sp>
        <p:nvSpPr>
          <p:cNvPr id="25" name="Text 25"/>
          <p:cNvSpPr/>
          <p:nvPr/>
        </p:nvSpPr>
        <p:spPr>
          <a:xfrm>
            <a:off x="932688" y="4370832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Context API + hooks</a:t>
            </a:r>
            <a:endParaRPr lang="en-US"/>
          </a:p>
        </p:txBody>
      </p:sp>
      <p:sp>
        <p:nvSpPr>
          <p:cNvPr id="26" name="Text 26"/>
          <p:cNvSpPr/>
          <p:nvPr/>
        </p:nvSpPr>
        <p:spPr>
          <a:xfrm>
            <a:off x="932688" y="4782312"/>
            <a:ext cx="47914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Shared player state with useState, useEffect, useMemo, and useCallback.</a:t>
            </a:r>
            <a:endParaRPr lang="en-US"/>
          </a:p>
        </p:txBody>
      </p:sp>
      <p:sp>
        <p:nvSpPr>
          <p:cNvPr id="27" name="Panel"/>
          <p:cNvSpPr/>
          <p:nvPr/>
        </p:nvSpPr>
        <p:spPr>
          <a:xfrm>
            <a:off x="6199632" y="4187952"/>
            <a:ext cx="5303520" cy="106070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8" name="Panel"/>
          <p:cNvSpPr/>
          <p:nvPr/>
        </p:nvSpPr>
        <p:spPr>
          <a:xfrm>
            <a:off x="6364224" y="4352544"/>
            <a:ext cx="41148" cy="731520"/>
          </a:xfrm>
          <a:prstGeom prst="rect">
            <a:avLst/>
          </a:prstGeom>
          <a:solidFill>
            <a:srgbClr val="71D8BE"/>
          </a:solidFill>
          <a:ln>
            <a:noFill/>
          </a:ln>
        </p:spPr>
      </p:sp>
      <p:sp>
        <p:nvSpPr>
          <p:cNvPr id="29" name="Text 29"/>
          <p:cNvSpPr/>
          <p:nvPr/>
        </p:nvSpPr>
        <p:spPr>
          <a:xfrm>
            <a:off x="6510528" y="4370832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Browser storage</a:t>
            </a:r>
            <a:endParaRPr lang="en-US"/>
          </a:p>
        </p:txBody>
      </p:sp>
      <p:sp>
        <p:nvSpPr>
          <p:cNvPr id="30" name="Text 30"/>
          <p:cNvSpPr/>
          <p:nvPr/>
        </p:nvSpPr>
        <p:spPr>
          <a:xfrm>
            <a:off x="6510528" y="4782312"/>
            <a:ext cx="47914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localStorage for preferences; IndexedDB for the directory handle.</a:t>
            </a:r>
            <a:endParaRPr lang="en-US"/>
          </a:p>
        </p:txBody>
      </p:sp>
      <p:sp>
        <p:nvSpPr>
          <p:cNvPr id="31" name="Text 31"/>
          <p:cNvSpPr/>
          <p:nvPr/>
        </p:nvSpPr>
        <p:spPr>
          <a:xfrm>
            <a:off x="621792" y="5742432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lucide-react supplies interface icons. No Redux or backend service is used.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Application architecture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600200"/>
            <a:ext cx="2514600" cy="566928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lang="en-US" sz="1500" b="1">
                <a:solidFill>
                  <a:srgbClr val="F5F7F5"/>
                </a:solidFill>
                <a:latin typeface="Aptos"/>
              </a:rPr>
              <a:t>src/main.jsx</a:t>
            </a:r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621792" y="226771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lang="en-US" sz="1100" b="0">
                <a:solidFill>
                  <a:srgbClr val="B8C1BB"/>
                </a:solidFill>
                <a:latin typeface="Aptos"/>
              </a:rPr>
              <a:t>StrictMode</a:t>
            </a:r>
            <a:endParaRPr lang="en-US"/>
          </a:p>
          <a:p>
            <a:pPr algn="ctr"/>
            <a:r>
              <a:rPr lang="en-US" sz="1100" b="0">
                <a:solidFill>
                  <a:srgbClr val="B8C1BB"/>
                </a:solidFill>
                <a:latin typeface="Aptos"/>
              </a:rPr>
              <a:t>PlayerProvider wraps App</a:t>
            </a:r>
            <a:endParaRPr lang="en-US"/>
          </a:p>
        </p:txBody>
      </p:sp>
      <p:sp>
        <p:nvSpPr>
          <p:cNvPr id="9" name="Panel"/>
          <p:cNvSpPr/>
          <p:nvPr/>
        </p:nvSpPr>
        <p:spPr>
          <a:xfrm>
            <a:off x="3200400" y="1847088"/>
            <a:ext cx="219456" cy="32004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10" name="Text 10"/>
          <p:cNvSpPr/>
          <p:nvPr/>
        </p:nvSpPr>
        <p:spPr>
          <a:xfrm>
            <a:off x="3502152" y="1600200"/>
            <a:ext cx="2514600" cy="566928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lang="en-US" sz="1500" b="1">
                <a:solidFill>
                  <a:srgbClr val="F5F7F5"/>
                </a:solidFill>
                <a:latin typeface="Aptos"/>
              </a:rPr>
              <a:t>src/App.jsx</a:t>
            </a:r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3502152" y="226771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lang="en-US" sz="1100" b="0">
                <a:solidFill>
                  <a:srgbClr val="B8C1BB"/>
                </a:solidFill>
                <a:latin typeface="Aptos"/>
              </a:rPr>
              <a:t>Route selection</a:t>
            </a:r>
            <a:endParaRPr lang="en-US"/>
          </a:p>
          <a:p>
            <a:pPr algn="ctr"/>
            <a:r>
              <a:rPr lang="en-US" sz="1100" b="0">
                <a:solidFill>
                  <a:srgbClr val="B8C1BB"/>
                </a:solidFill>
                <a:latin typeface="Aptos"/>
              </a:rPr>
              <a:t>Player shell and views</a:t>
            </a:r>
            <a:endParaRPr lang="en-US"/>
          </a:p>
        </p:txBody>
      </p:sp>
      <p:sp>
        <p:nvSpPr>
          <p:cNvPr id="12" name="Panel"/>
          <p:cNvSpPr/>
          <p:nvPr/>
        </p:nvSpPr>
        <p:spPr>
          <a:xfrm>
            <a:off x="6080760" y="1847088"/>
            <a:ext cx="219456" cy="32004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13" name="Text 13"/>
          <p:cNvSpPr/>
          <p:nvPr/>
        </p:nvSpPr>
        <p:spPr>
          <a:xfrm>
            <a:off x="6382512" y="1600200"/>
            <a:ext cx="2514600" cy="566928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lang="en-US" sz="1500" b="1">
                <a:solidFill>
                  <a:srgbClr val="F5F7F5"/>
                </a:solidFill>
                <a:latin typeface="Aptos"/>
              </a:rPr>
              <a:t>PublicExperience.jsx</a:t>
            </a:r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6382512" y="226771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lang="en-US" sz="1100" b="0">
                <a:solidFill>
                  <a:srgbClr val="B8C1BB"/>
                </a:solidFill>
                <a:latin typeface="Aptos"/>
              </a:rPr>
              <a:t>Landing, auth, Premium, account demo</a:t>
            </a:r>
            <a:endParaRPr lang="en-US"/>
          </a:p>
        </p:txBody>
      </p:sp>
      <p:sp>
        <p:nvSpPr>
          <p:cNvPr id="15" name="Panel"/>
          <p:cNvSpPr/>
          <p:nvPr/>
        </p:nvSpPr>
        <p:spPr>
          <a:xfrm>
            <a:off x="8961120" y="1847088"/>
            <a:ext cx="219456" cy="32004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16" name="Text 16"/>
          <p:cNvSpPr/>
          <p:nvPr/>
        </p:nvSpPr>
        <p:spPr>
          <a:xfrm>
            <a:off x="9262872" y="1600200"/>
            <a:ext cx="2514600" cy="566928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lang="en-US" sz="1500" b="1">
                <a:solidFill>
                  <a:srgbClr val="F5F7F5"/>
                </a:solidFill>
                <a:latin typeface="Aptos"/>
              </a:rPr>
              <a:t>Player UI + Context</a:t>
            </a:r>
            <a:endParaRPr lang="en-US"/>
          </a:p>
        </p:txBody>
      </p:sp>
      <p:sp>
        <p:nvSpPr>
          <p:cNvPr id="17" name="Text 17"/>
          <p:cNvSpPr/>
          <p:nvPr/>
        </p:nvSpPr>
        <p:spPr>
          <a:xfrm>
            <a:off x="9262872" y="226771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lang="en-US" sz="1100" b="0">
                <a:solidFill>
                  <a:srgbClr val="B8C1BB"/>
                </a:solidFill>
                <a:latin typeface="Aptos"/>
              </a:rPr>
              <a:t>App.jsx uses usePlayer()</a:t>
            </a:r>
            <a:endParaRPr lang="en-US"/>
          </a:p>
        </p:txBody>
      </p:sp>
      <p:sp>
        <p:nvSpPr>
          <p:cNvPr id="18" name="Panel"/>
          <p:cNvSpPr/>
          <p:nvPr/>
        </p:nvSpPr>
        <p:spPr>
          <a:xfrm>
            <a:off x="621792" y="3246120"/>
            <a:ext cx="3493008" cy="1828800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9" name="Panel"/>
          <p:cNvSpPr/>
          <p:nvPr/>
        </p:nvSpPr>
        <p:spPr>
          <a:xfrm>
            <a:off x="786384" y="3410712"/>
            <a:ext cx="41148" cy="1499616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20" name="Text 20"/>
          <p:cNvSpPr/>
          <p:nvPr/>
        </p:nvSpPr>
        <p:spPr>
          <a:xfrm>
            <a:off x="932688" y="3429000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Shared player state</a:t>
            </a:r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932688" y="3840480"/>
            <a:ext cx="2980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Track, audio, queue, likes, volume, shuffle, repeat, and recent IDs.</a:t>
            </a:r>
            <a:endParaRPr lang="en-US"/>
          </a:p>
        </p:txBody>
      </p:sp>
      <p:sp>
        <p:nvSpPr>
          <p:cNvPr id="22" name="Panel"/>
          <p:cNvSpPr/>
          <p:nvPr/>
        </p:nvSpPr>
        <p:spPr>
          <a:xfrm>
            <a:off x="4352544" y="3246120"/>
            <a:ext cx="3493008" cy="1828800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3" name="Panel"/>
          <p:cNvSpPr/>
          <p:nvPr/>
        </p:nvSpPr>
        <p:spPr>
          <a:xfrm>
            <a:off x="4517136" y="3410712"/>
            <a:ext cx="41148" cy="1499616"/>
          </a:xfrm>
          <a:prstGeom prst="rect">
            <a:avLst/>
          </a:prstGeom>
          <a:solidFill>
            <a:srgbClr val="71D8BE"/>
          </a:solidFill>
          <a:ln>
            <a:noFill/>
          </a:ln>
        </p:spPr>
      </p:sp>
      <p:sp>
        <p:nvSpPr>
          <p:cNvPr id="24" name="Text 24"/>
          <p:cNvSpPr/>
          <p:nvPr/>
        </p:nvSpPr>
        <p:spPr>
          <a:xfrm>
            <a:off x="4663440" y="3429000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Music data</a:t>
            </a:r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4663440" y="3840480"/>
            <a:ext cx="2980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musicData.js supplies sample tracks and VIBE playlist IDs. Imported tracks join at runtime.</a:t>
            </a:r>
            <a:endParaRPr lang="en-US"/>
          </a:p>
        </p:txBody>
      </p:sp>
      <p:sp>
        <p:nvSpPr>
          <p:cNvPr id="26" name="Panel"/>
          <p:cNvSpPr/>
          <p:nvPr/>
        </p:nvSpPr>
        <p:spPr>
          <a:xfrm>
            <a:off x="8083296" y="3246120"/>
            <a:ext cx="3493008" cy="1828800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7" name="Panel"/>
          <p:cNvSpPr/>
          <p:nvPr/>
        </p:nvSpPr>
        <p:spPr>
          <a:xfrm>
            <a:off x="8247888" y="3410712"/>
            <a:ext cx="41148" cy="1499616"/>
          </a:xfrm>
          <a:prstGeom prst="rect">
            <a:avLst/>
          </a:prstGeom>
          <a:solidFill>
            <a:srgbClr val="B1A4FF"/>
          </a:solidFill>
          <a:ln>
            <a:noFill/>
          </a:ln>
        </p:spPr>
      </p:sp>
      <p:sp>
        <p:nvSpPr>
          <p:cNvPr id="28" name="Text 28"/>
          <p:cNvSpPr/>
          <p:nvPr/>
        </p:nvSpPr>
        <p:spPr>
          <a:xfrm>
            <a:off x="8394192" y="3429000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Persistence</a:t>
            </a:r>
            <a:endParaRPr lang="en-US"/>
          </a:p>
        </p:txBody>
      </p:sp>
      <p:sp>
        <p:nvSpPr>
          <p:cNvPr id="29" name="Text 29"/>
          <p:cNvSpPr/>
          <p:nvPr/>
        </p:nvSpPr>
        <p:spPr>
          <a:xfrm>
            <a:off x="8394192" y="3840480"/>
            <a:ext cx="2980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localStorage stores likes, volume, and recent IDs. IndexedDB stores a folder handle.</a:t>
            </a:r>
            <a:endParaRPr lang="en-US"/>
          </a:p>
        </p:txBody>
      </p:sp>
      <p:sp>
        <p:nvSpPr>
          <p:cNvPr id="30" name="Text 30"/>
          <p:cNvSpPr/>
          <p:nvPr/>
        </p:nvSpPr>
        <p:spPr>
          <a:xfrm>
            <a:off x="621792" y="5596128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File names and component relationships are taken from the current source.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Public homepage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B8C1BB"/>
                </a:solidFill>
                <a:latin typeface="Aptos"/>
              </a:rPr>
              <a:t>Header navigation, library prompts, song discovery cards, artist rail, and sign-up banner.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621792" y="1828800"/>
            <a:ext cx="10927080" cy="4105656"/>
          </a:xfrm>
          <a:prstGeom prst="roundRect">
            <a:avLst/>
          </a:prstGeom>
          <a:solidFill>
            <a:srgbClr val="080909"/>
          </a:solidFill>
          <a:ln w="12700">
            <a:solidFill>
              <a:srgbClr val="39413D"/>
            </a:solidFill>
          </a:ln>
        </p:spPr>
      </p:sp>
      <p:pic>
        <p:nvPicPr>
          <p:cNvPr id="9" name="Existing public homepage project cap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130" y="1920240"/>
            <a:ext cx="8240405" cy="3922776"/>
          </a:xfrm>
          <a:prstGeom prst="rect">
            <a:avLst/>
          </a:prstGeom>
          <a:ln>
            <a:noFill/>
          </a:ln>
        </p:spPr>
      </p:pic>
      <p:sp>
        <p:nvSpPr>
          <p:cNvPr id="10" name="Text 10"/>
          <p:cNvSpPr/>
          <p:nvPr/>
        </p:nvSpPr>
        <p:spPr>
          <a:xfrm>
            <a:off x="640080" y="6044184"/>
            <a:ext cx="10698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B8C1BB"/>
                </a:solidFill>
                <a:latin typeface="Aptos"/>
              </a:rPr>
              <a:t>Existing project capture from an earlier session. Not a fresh browser render.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Login and sign-up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335024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B8C1BB"/>
                </a:solidFill>
                <a:latin typeface="Aptos"/>
              </a:rPr>
              <a:t>Both forms use controlled email state, trim input, validate format, and respond without a backend.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621792" y="1865376"/>
            <a:ext cx="5285232" cy="3419856"/>
          </a:xfrm>
          <a:prstGeom prst="roundRect">
            <a:avLst/>
          </a:prstGeom>
          <a:solidFill>
            <a:srgbClr val="080909"/>
          </a:solidFill>
          <a:ln w="12700">
            <a:solidFill>
              <a:srgbClr val="39413D"/>
            </a:solidFill>
          </a:ln>
        </p:spPr>
      </p:sp>
      <p:pic>
        <p:nvPicPr>
          <p:cNvPr id="9" name="Login existing project cap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54023"/>
            <a:ext cx="5102352" cy="2842562"/>
          </a:xfrm>
          <a:prstGeom prst="rect">
            <a:avLst/>
          </a:prstGeom>
          <a:ln>
            <a:noFill/>
          </a:ln>
        </p:spPr>
      </p:pic>
      <p:sp>
        <p:nvSpPr>
          <p:cNvPr id="10" name="Text 10"/>
          <p:cNvSpPr/>
          <p:nvPr/>
        </p:nvSpPr>
        <p:spPr>
          <a:xfrm>
            <a:off x="694944" y="5394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Login</a:t>
            </a:r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694944" y="5705856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B8C1BB"/>
                </a:solidFill>
                <a:latin typeface="Aptos"/>
              </a:rPr>
              <a:t>Existing project capture</a:t>
            </a:r>
            <a:endParaRPr lang="en-US"/>
          </a:p>
        </p:txBody>
      </p:sp>
      <p:sp>
        <p:nvSpPr>
          <p:cNvPr id="12" name="Panel"/>
          <p:cNvSpPr/>
          <p:nvPr/>
        </p:nvSpPr>
        <p:spPr>
          <a:xfrm>
            <a:off x="6254496" y="1865376"/>
            <a:ext cx="5285232" cy="3419856"/>
          </a:xfrm>
          <a:prstGeom prst="roundRect">
            <a:avLst/>
          </a:prstGeom>
          <a:solidFill>
            <a:srgbClr val="080909"/>
          </a:solidFill>
          <a:ln w="12700">
            <a:solidFill>
              <a:srgbClr val="39413D"/>
            </a:solidFill>
          </a:ln>
        </p:spPr>
      </p:sp>
      <p:pic>
        <p:nvPicPr>
          <p:cNvPr id="13" name="Sign-up existing project cap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19220"/>
            <a:ext cx="5102352" cy="3112168"/>
          </a:xfrm>
          <a:prstGeom prst="rect">
            <a:avLst/>
          </a:prstGeom>
          <a:ln>
            <a:noFill/>
          </a:ln>
        </p:spPr>
      </p:pic>
      <p:sp>
        <p:nvSpPr>
          <p:cNvPr id="14" name="Text 14"/>
          <p:cNvSpPr/>
          <p:nvPr/>
        </p:nvSpPr>
        <p:spPr>
          <a:xfrm>
            <a:off x="6327648" y="5394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Sign-up</a:t>
            </a:r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6327648" y="5705856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B8C1BB"/>
                </a:solidFill>
                <a:latin typeface="Aptos"/>
              </a:rPr>
              <a:t>Existing project capture</a:t>
            </a:r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621792" y="6016752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1ED760"/>
                </a:solidFill>
                <a:latin typeface="Aptos"/>
              </a:rPr>
              <a:t>Valid email shows a demo-only message. No password is requested, no account is created, and email is not saved.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Premium plans and account dashboard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335024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B8C1BB"/>
                </a:solidFill>
                <a:latin typeface="Aptos"/>
              </a:rPr>
              <a:t>Public route opens plan options; account route provides clearly labeled frontend-only demo controls.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621792" y="1865376"/>
            <a:ext cx="5285232" cy="3401568"/>
          </a:xfrm>
          <a:prstGeom prst="roundRect">
            <a:avLst/>
          </a:prstGeom>
          <a:solidFill>
            <a:srgbClr val="080909"/>
          </a:solidFill>
          <a:ln w="12700">
            <a:solidFill>
              <a:srgbClr val="39413D"/>
            </a:solidFill>
          </a:ln>
        </p:spPr>
      </p:sp>
      <p:pic>
        <p:nvPicPr>
          <p:cNvPr id="9" name="Premium plans supplied design refer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04" y="1956816"/>
            <a:ext cx="4559808" cy="3218688"/>
          </a:xfrm>
          <a:prstGeom prst="rect">
            <a:avLst/>
          </a:prstGeom>
          <a:ln>
            <a:noFill/>
          </a:ln>
        </p:spPr>
      </p:pic>
      <p:sp>
        <p:nvSpPr>
          <p:cNvPr id="10" name="Text 10"/>
          <p:cNvSpPr/>
          <p:nvPr/>
        </p:nvSpPr>
        <p:spPr>
          <a:xfrm>
            <a:off x="694944" y="537667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Premium plans</a:t>
            </a:r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694944" y="5669280"/>
            <a:ext cx="50292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Supplied reference image, not a fresh app capture</a:t>
            </a:r>
            <a:endParaRPr lang="en-US"/>
          </a:p>
        </p:txBody>
      </p:sp>
      <p:sp>
        <p:nvSpPr>
          <p:cNvPr id="12" name="Panel"/>
          <p:cNvSpPr/>
          <p:nvPr/>
        </p:nvSpPr>
        <p:spPr>
          <a:xfrm>
            <a:off x="6254496" y="1865376"/>
            <a:ext cx="5285232" cy="3401568"/>
          </a:xfrm>
          <a:prstGeom prst="roundRect">
            <a:avLst/>
          </a:prstGeom>
          <a:solidFill>
            <a:srgbClr val="080909"/>
          </a:solidFill>
          <a:ln w="12700">
            <a:solidFill>
              <a:srgbClr val="39413D"/>
            </a:solidFill>
          </a:ln>
        </p:spPr>
      </p:sp>
      <p:pic>
        <p:nvPicPr>
          <p:cNvPr id="13" name="Account dashboard supplied design refer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420350"/>
            <a:ext cx="5102352" cy="2291620"/>
          </a:xfrm>
          <a:prstGeom prst="rect">
            <a:avLst/>
          </a:prstGeom>
          <a:ln>
            <a:noFill/>
          </a:ln>
        </p:spPr>
      </p:pic>
      <p:sp>
        <p:nvSpPr>
          <p:cNvPr id="14" name="Text 14"/>
          <p:cNvSpPr/>
          <p:nvPr/>
        </p:nvSpPr>
        <p:spPr>
          <a:xfrm>
            <a:off x="6327648" y="537667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Account dashboard</a:t>
            </a:r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6327648" y="5669280"/>
            <a:ext cx="502920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Supplied reference image, not a fresh app capture</a:t>
            </a:r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621792" y="600760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1ED760"/>
                </a:solidFill>
                <a:latin typeface="Aptos"/>
              </a:rPr>
              <a:t>No payment, subscription change, or real account data is connected.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Music player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335024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B8C1BB"/>
                </a:solidFill>
                <a:latin typeface="Aptos"/>
              </a:rPr>
              <a:t>App.jsx composes the library, main content, optional Now Playing panel, and bottom audio controls.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621792" y="1847088"/>
            <a:ext cx="8887968" cy="4096512"/>
          </a:xfrm>
          <a:prstGeom prst="roundRect">
            <a:avLst/>
          </a:prstGeom>
          <a:solidFill>
            <a:srgbClr val="080909"/>
          </a:solidFill>
          <a:ln w="12700">
            <a:solidFill>
              <a:srgbClr val="39413D"/>
            </a:solidFill>
          </a:ln>
        </p:spPr>
      </p:sp>
      <p:pic>
        <p:nvPicPr>
          <p:cNvPr id="9" name="Existing player capture, empty st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992" y="1938528"/>
            <a:ext cx="6957568" cy="3913632"/>
          </a:xfrm>
          <a:prstGeom prst="rect">
            <a:avLst/>
          </a:prstGeom>
          <a:ln>
            <a:noFill/>
          </a:ln>
        </p:spPr>
      </p:pic>
      <p:sp>
        <p:nvSpPr>
          <p:cNvPr id="10" name="Panel"/>
          <p:cNvSpPr/>
          <p:nvPr/>
        </p:nvSpPr>
        <p:spPr>
          <a:xfrm>
            <a:off x="9729216" y="1847088"/>
            <a:ext cx="1792224" cy="4096512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1" name="Text 11"/>
          <p:cNvSpPr/>
          <p:nvPr/>
        </p:nvSpPr>
        <p:spPr>
          <a:xfrm>
            <a:off x="9893808" y="20574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500" b="1">
                <a:solidFill>
                  <a:srgbClr val="F5F7F5"/>
                </a:solidFill>
                <a:latin typeface="Aptos"/>
              </a:rPr>
              <a:t>Controls</a:t>
            </a:r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9893808" y="2542032"/>
            <a:ext cx="146304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Play / pause</a:t>
            </a:r>
            <a:endParaRPr lang="en-US"/>
          </a:p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Previous / next</a:t>
            </a:r>
            <a:endParaRPr lang="en-US"/>
          </a:p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Seek and volume</a:t>
            </a:r>
            <a:endParaRPr lang="en-US"/>
          </a:p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Shuffle / repeat</a:t>
            </a:r>
            <a:endParaRPr lang="en-US"/>
          </a:p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Queue and likes</a:t>
            </a:r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9893808" y="4407408"/>
            <a:ext cx="144475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000" b="0">
                <a:solidFill>
                  <a:srgbClr val="71D8BE"/>
                </a:solidFill>
                <a:latin typeface="Aptos"/>
              </a:rPr>
              <a:t>Prior capture shows the empty player state.</a:t>
            </a:r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621792" y="6053328"/>
            <a:ext cx="10698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B8C1BB"/>
                </a:solidFill>
                <a:latin typeface="Aptos"/>
              </a:rPr>
              <a:t>Current browser interaction and responsive rendering were not tested for this deck.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Playlists and search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335024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B8C1BB"/>
                </a:solidFill>
                <a:latin typeface="Aptos"/>
              </a:rPr>
              <a:t>VIBE maps to sample track IDs. Liked Songs is built from the saved liked-ID list.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621792" y="1865376"/>
            <a:ext cx="5285232" cy="3474720"/>
          </a:xfrm>
          <a:prstGeom prst="roundRect">
            <a:avLst/>
          </a:prstGeom>
          <a:solidFill>
            <a:srgbClr val="080909"/>
          </a:solidFill>
          <a:ln w="12700">
            <a:solidFill>
              <a:srgbClr val="39413D"/>
            </a:solidFill>
          </a:ln>
        </p:spPr>
      </p:sp>
      <p:pic>
        <p:nvPicPr>
          <p:cNvPr id="9" name="VIBE playlist existing project cap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41171"/>
            <a:ext cx="5102352" cy="2323130"/>
          </a:xfrm>
          <a:prstGeom prst="rect">
            <a:avLst/>
          </a:prstGeom>
          <a:ln>
            <a:noFill/>
          </a:ln>
        </p:spPr>
      </p:pic>
      <p:sp>
        <p:nvSpPr>
          <p:cNvPr id="10" name="Text 10"/>
          <p:cNvSpPr/>
          <p:nvPr/>
        </p:nvSpPr>
        <p:spPr>
          <a:xfrm>
            <a:off x="694944" y="544982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VIBE playlist</a:t>
            </a:r>
            <a:endParaRPr lang="en-US"/>
          </a:p>
        </p:txBody>
      </p:sp>
      <p:sp>
        <p:nvSpPr>
          <p:cNvPr id="11" name="Panel"/>
          <p:cNvSpPr/>
          <p:nvPr/>
        </p:nvSpPr>
        <p:spPr>
          <a:xfrm>
            <a:off x="6254496" y="1865376"/>
            <a:ext cx="5285232" cy="3474720"/>
          </a:xfrm>
          <a:prstGeom prst="roundRect">
            <a:avLst/>
          </a:prstGeom>
          <a:solidFill>
            <a:srgbClr val="080909"/>
          </a:solidFill>
          <a:ln w="12700">
            <a:solidFill>
              <a:srgbClr val="39413D"/>
            </a:solidFill>
          </a:ln>
        </p:spPr>
      </p:sp>
      <p:pic>
        <p:nvPicPr>
          <p:cNvPr id="12" name="Liked Songs existing project cap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237831"/>
            <a:ext cx="5102352" cy="2729810"/>
          </a:xfrm>
          <a:prstGeom prst="rect">
            <a:avLst/>
          </a:prstGeom>
          <a:ln>
            <a:noFill/>
          </a:ln>
        </p:spPr>
      </p:pic>
      <p:sp>
        <p:nvSpPr>
          <p:cNvPr id="13" name="Text 13"/>
          <p:cNvSpPr/>
          <p:nvPr/>
        </p:nvSpPr>
        <p:spPr>
          <a:xfrm>
            <a:off x="6327648" y="544982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Liked Songs</a:t>
            </a:r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621792" y="5815584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Search matches title, artist, album, and imported filename. Selecting a result calls playTrack().</a:t>
            </a:r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621792" y="6190488"/>
            <a:ext cx="107899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Existing captures; not freshly browser-verified.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Queue and recently played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Panel"/>
          <p:cNvSpPr/>
          <p:nvPr/>
        </p:nvSpPr>
        <p:spPr>
          <a:xfrm>
            <a:off x="621792" y="1481328"/>
            <a:ext cx="4041648" cy="4526280"/>
          </a:xfrm>
          <a:prstGeom prst="roundRect">
            <a:avLst/>
          </a:prstGeom>
          <a:solidFill>
            <a:srgbClr val="080909"/>
          </a:solidFill>
          <a:ln w="12700">
            <a:solidFill>
              <a:srgbClr val="39413D"/>
            </a:solidFill>
          </a:ln>
        </p:spPr>
      </p:sp>
      <p:pic>
        <p:nvPicPr>
          <p:cNvPr id="8" name="Existing queue panel cap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983" y="1600200"/>
            <a:ext cx="2779266" cy="4288536"/>
          </a:xfrm>
          <a:prstGeom prst="rect">
            <a:avLst/>
          </a:prstGeom>
          <a:ln>
            <a:noFill/>
          </a:ln>
        </p:spPr>
      </p:pic>
      <p:sp>
        <p:nvSpPr>
          <p:cNvPr id="9" name="Text 9"/>
          <p:cNvSpPr/>
          <p:nvPr/>
        </p:nvSpPr>
        <p:spPr>
          <a:xfrm>
            <a:off x="694944" y="608076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Existing queue panel capture</a:t>
            </a:r>
            <a:endParaRPr lang="en-US"/>
          </a:p>
        </p:txBody>
      </p:sp>
      <p:sp>
        <p:nvSpPr>
          <p:cNvPr id="10" name="Panel"/>
          <p:cNvSpPr/>
          <p:nvPr/>
        </p:nvSpPr>
        <p:spPr>
          <a:xfrm>
            <a:off x="4937760" y="1481328"/>
            <a:ext cx="6583680" cy="1307592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1" name="Panel"/>
          <p:cNvSpPr/>
          <p:nvPr/>
        </p:nvSpPr>
        <p:spPr>
          <a:xfrm>
            <a:off x="5102352" y="1645920"/>
            <a:ext cx="41148" cy="97840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12" name="Text 12"/>
          <p:cNvSpPr/>
          <p:nvPr/>
        </p:nvSpPr>
        <p:spPr>
          <a:xfrm>
            <a:off x="5248656" y="1664208"/>
            <a:ext cx="6089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Queue</a:t>
            </a:r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5248656" y="2075688"/>
            <a:ext cx="607161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Queue IDs live in PlayerContext. Next playback consumes the first available queued track.</a:t>
            </a:r>
            <a:endParaRPr lang="en-US"/>
          </a:p>
        </p:txBody>
      </p:sp>
      <p:sp>
        <p:nvSpPr>
          <p:cNvPr id="14" name="Panel"/>
          <p:cNvSpPr/>
          <p:nvPr/>
        </p:nvSpPr>
        <p:spPr>
          <a:xfrm>
            <a:off x="4937760" y="3026664"/>
            <a:ext cx="6583680" cy="1307592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5" name="Panel"/>
          <p:cNvSpPr/>
          <p:nvPr/>
        </p:nvSpPr>
        <p:spPr>
          <a:xfrm>
            <a:off x="5102352" y="3191256"/>
            <a:ext cx="41148" cy="978408"/>
          </a:xfrm>
          <a:prstGeom prst="rect">
            <a:avLst/>
          </a:prstGeom>
          <a:solidFill>
            <a:srgbClr val="71D8BE"/>
          </a:solidFill>
          <a:ln>
            <a:noFill/>
          </a:ln>
        </p:spPr>
      </p:sp>
      <p:sp>
        <p:nvSpPr>
          <p:cNvPr id="16" name="Text 16"/>
          <p:cNvSpPr/>
          <p:nvPr/>
        </p:nvSpPr>
        <p:spPr>
          <a:xfrm>
            <a:off x="5248656" y="3209544"/>
            <a:ext cx="6089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Recent history</a:t>
            </a:r>
            <a:endParaRPr lang="en-US"/>
          </a:p>
        </p:txBody>
      </p:sp>
      <p:sp>
        <p:nvSpPr>
          <p:cNvPr id="17" name="Text 17"/>
          <p:cNvSpPr/>
          <p:nvPr/>
        </p:nvSpPr>
        <p:spPr>
          <a:xfrm>
            <a:off x="5248656" y="3621024"/>
            <a:ext cx="607161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playTrack() moves the selected stable ID to the front, removes duplicates, and keeps up to 12 IDs.</a:t>
            </a:r>
            <a:endParaRPr lang="en-US"/>
          </a:p>
        </p:txBody>
      </p:sp>
      <p:sp>
        <p:nvSpPr>
          <p:cNvPr id="18" name="Panel"/>
          <p:cNvSpPr/>
          <p:nvPr/>
        </p:nvSpPr>
        <p:spPr>
          <a:xfrm>
            <a:off x="4937760" y="4572000"/>
            <a:ext cx="6583680" cy="1307592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9" name="Panel"/>
          <p:cNvSpPr/>
          <p:nvPr/>
        </p:nvSpPr>
        <p:spPr>
          <a:xfrm>
            <a:off x="5102352" y="4736592"/>
            <a:ext cx="41148" cy="978408"/>
          </a:xfrm>
          <a:prstGeom prst="rect">
            <a:avLst/>
          </a:prstGeom>
          <a:solidFill>
            <a:srgbClr val="B1A4FF"/>
          </a:solidFill>
          <a:ln>
            <a:noFill/>
          </a:ln>
        </p:spPr>
      </p:sp>
      <p:sp>
        <p:nvSpPr>
          <p:cNvPr id="20" name="Text 20"/>
          <p:cNvSpPr/>
          <p:nvPr/>
        </p:nvSpPr>
        <p:spPr>
          <a:xfrm>
            <a:off x="5248656" y="4754880"/>
            <a:ext cx="6089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Persistence</a:t>
            </a:r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5248656" y="5166360"/>
            <a:ext cx="607161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Recent IDs are restored from and written to localStorage under pulsewave-recent-tracks.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Local music import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35331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700" b="1">
                <a:solidFill>
                  <a:srgbClr val="F5F7F5"/>
                </a:solidFill>
                <a:latin typeface="Aptos"/>
              </a:rPr>
              <a:t>Audio files are selected by the listener and processed in the browser.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621792" y="1938528"/>
            <a:ext cx="6693408" cy="749808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9" name="Text 9"/>
          <p:cNvSpPr/>
          <p:nvPr/>
        </p:nvSpPr>
        <p:spPr>
          <a:xfrm>
            <a:off x="795528" y="212140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01</a:t>
            </a:r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1335024" y="206654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1">
                <a:solidFill>
                  <a:srgbClr val="F5F7F5"/>
                </a:solidFill>
                <a:latin typeface="Aptos"/>
              </a:rPr>
              <a:t>Choose a folder</a:t>
            </a:r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3493008" y="206654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000" b="0">
                <a:solidFill>
                  <a:srgbClr val="B8C1BB"/>
                </a:solidFill>
                <a:latin typeface="Aptos"/>
              </a:rPr>
              <a:t>File System Access API when available; directory-input fallback otherwise.</a:t>
            </a:r>
            <a:endParaRPr lang="en-US"/>
          </a:p>
        </p:txBody>
      </p:sp>
      <p:sp>
        <p:nvSpPr>
          <p:cNvPr id="12" name="Panel"/>
          <p:cNvSpPr/>
          <p:nvPr/>
        </p:nvSpPr>
        <p:spPr>
          <a:xfrm>
            <a:off x="621792" y="2871216"/>
            <a:ext cx="6693408" cy="749808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3" name="Text 13"/>
          <p:cNvSpPr/>
          <p:nvPr/>
        </p:nvSpPr>
        <p:spPr>
          <a:xfrm>
            <a:off x="795528" y="305409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02</a:t>
            </a:r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1335024" y="29992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1">
                <a:solidFill>
                  <a:srgbClr val="F5F7F5"/>
                </a:solidFill>
                <a:latin typeface="Aptos"/>
              </a:rPr>
              <a:t>Read supported files</a:t>
            </a:r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3493008" y="2999232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000" b="0">
                <a:solidFill>
                  <a:srgbClr val="B8C1BB"/>
                </a:solidFill>
                <a:latin typeface="Aptos"/>
              </a:rPr>
              <a:t>Audio extensions and audio MIME types are accepted.</a:t>
            </a:r>
            <a:endParaRPr lang="en-US"/>
          </a:p>
        </p:txBody>
      </p:sp>
      <p:sp>
        <p:nvSpPr>
          <p:cNvPr id="16" name="Panel"/>
          <p:cNvSpPr/>
          <p:nvPr/>
        </p:nvSpPr>
        <p:spPr>
          <a:xfrm>
            <a:off x="621792" y="3803904"/>
            <a:ext cx="6693408" cy="749808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7" name="Text 17"/>
          <p:cNvSpPr/>
          <p:nvPr/>
        </p:nvSpPr>
        <p:spPr>
          <a:xfrm>
            <a:off x="795528" y="398678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03</a:t>
            </a:r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1335024" y="39319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1">
                <a:solidFill>
                  <a:srgbClr val="F5F7F5"/>
                </a:solidFill>
                <a:latin typeface="Aptos"/>
              </a:rPr>
              <a:t>Read tags and cover</a:t>
            </a:r>
            <a:endParaRPr lang="en-US"/>
          </a:p>
        </p:txBody>
      </p:sp>
      <p:sp>
        <p:nvSpPr>
          <p:cNvPr id="19" name="Text 19"/>
          <p:cNvSpPr/>
          <p:nvPr/>
        </p:nvSpPr>
        <p:spPr>
          <a:xfrm>
            <a:off x="3493008" y="39319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000" b="0">
                <a:solidFill>
                  <a:srgbClr val="B8C1BB"/>
                </a:solidFill>
                <a:latin typeface="Aptos"/>
              </a:rPr>
              <a:t>ID3 title, artist, album, and APIC/PIC artwork are parsed when present.</a:t>
            </a:r>
            <a:endParaRPr lang="en-US"/>
          </a:p>
        </p:txBody>
      </p:sp>
      <p:sp>
        <p:nvSpPr>
          <p:cNvPr id="20" name="Panel"/>
          <p:cNvSpPr/>
          <p:nvPr/>
        </p:nvSpPr>
        <p:spPr>
          <a:xfrm>
            <a:off x="621792" y="4736592"/>
            <a:ext cx="6693408" cy="749808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1" name="Text 21"/>
          <p:cNvSpPr/>
          <p:nvPr/>
        </p:nvSpPr>
        <p:spPr>
          <a:xfrm>
            <a:off x="795528" y="491947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1ED760"/>
                </a:solidFill>
                <a:latin typeface="Aptos"/>
              </a:rPr>
              <a:t>04</a:t>
            </a:r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1335024" y="486460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1">
                <a:solidFill>
                  <a:srgbClr val="F5F7F5"/>
                </a:solidFill>
                <a:latin typeface="Aptos"/>
              </a:rPr>
              <a:t>Add to player</a:t>
            </a:r>
            <a:endParaRPr lang="en-US"/>
          </a:p>
        </p:txBody>
      </p:sp>
      <p:sp>
        <p:nvSpPr>
          <p:cNvPr id="23" name="Text 23"/>
          <p:cNvSpPr/>
          <p:nvPr/>
        </p:nvSpPr>
        <p:spPr>
          <a:xfrm>
            <a:off x="3493008" y="4864608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000" b="0">
                <a:solidFill>
                  <a:srgbClr val="B8C1BB"/>
                </a:solidFill>
                <a:latin typeface="Aptos"/>
              </a:rPr>
              <a:t>Stable ID, duration, metadata, and object URLs become runtime track data.</a:t>
            </a:r>
            <a:endParaRPr lang="en-US"/>
          </a:p>
        </p:txBody>
      </p:sp>
      <p:sp>
        <p:nvSpPr>
          <p:cNvPr id="24" name="Panel"/>
          <p:cNvSpPr/>
          <p:nvPr/>
        </p:nvSpPr>
        <p:spPr>
          <a:xfrm>
            <a:off x="7607808" y="1938528"/>
            <a:ext cx="3913632" cy="3566160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5" name="Text 25"/>
          <p:cNvSpPr/>
          <p:nvPr/>
        </p:nvSpPr>
        <p:spPr>
          <a:xfrm>
            <a:off x="7863840" y="2212848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700" b="1">
                <a:solidFill>
                  <a:srgbClr val="F5F7F5"/>
                </a:solidFill>
                <a:latin typeface="Aptos"/>
              </a:rPr>
              <a:t>What persists?</a:t>
            </a:r>
            <a:endParaRPr lang="en-US"/>
          </a:p>
        </p:txBody>
      </p:sp>
      <p:sp>
        <p:nvSpPr>
          <p:cNvPr id="26" name="Text 26"/>
          <p:cNvSpPr/>
          <p:nvPr/>
        </p:nvSpPr>
        <p:spPr>
          <a:xfrm>
            <a:off x="7863840" y="2761488"/>
            <a:ext cx="3337560" cy="21762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IndexedDB stores the directory handle.</a:t>
            </a:r>
            <a:endParaRPr lang="en-US"/>
          </a:p>
          <a:p>
            <a:endParaRPr lang="en-US"/>
          </a:p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Audio files remain in their original folder.</a:t>
            </a:r>
            <a:endParaRPr lang="en-US"/>
          </a:p>
          <a:p>
            <a:endParaRPr lang="en-US"/>
          </a:p>
          <a:p>
            <a:pPr algn="l"/>
            <a:r>
              <a:rPr lang="en-US" sz="1200" b="0">
                <a:solidFill>
                  <a:srgbClr val="B8C1BB"/>
                </a:solidFill>
                <a:latin typeface="Aptos"/>
              </a:rPr>
              <a:t>Imported tracks use in-memory object URLs and may need re-import after reload.</a:t>
            </a:r>
            <a:endParaRPr lang="en-US"/>
          </a:p>
        </p:txBody>
      </p:sp>
      <p:sp>
        <p:nvSpPr>
          <p:cNvPr id="27" name="Text 27"/>
          <p:cNvSpPr/>
          <p:nvPr/>
        </p:nvSpPr>
        <p:spPr>
          <a:xfrm>
            <a:off x="621792" y="592531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1ED760"/>
                </a:solidFill>
                <a:latin typeface="Aptos"/>
              </a:rPr>
              <a:t>No personal music files were accessed. End-to-end import and playback were not tested for this presentation.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React concepts in the code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335024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B8C1BB"/>
                </a:solidFill>
                <a:latin typeface="Aptos"/>
              </a:rPr>
              <a:t>Source-based examples: shared state, hook usage, and controlled form handling.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621792" y="1847088"/>
            <a:ext cx="5321808" cy="4050792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9" name="Text 9"/>
          <p:cNvSpPr/>
          <p:nvPr/>
        </p:nvSpPr>
        <p:spPr>
          <a:xfrm>
            <a:off x="850392" y="205740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Shared playback state</a:t>
            </a:r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850392" y="2560320"/>
            <a:ext cx="4800600" cy="2615184"/>
          </a:xfrm>
          <a:prstGeom prst="roundRect">
            <a:avLst/>
          </a:prstGeom>
          <a:solidFill>
            <a:srgbClr val="121614"/>
          </a:solidFill>
          <a:ln>
            <a:noFill/>
          </a:ln>
        </p:spPr>
        <p:txBody>
          <a:bodyPr wrap="square" lIns="109728" rIns="109728" tIns="109728" bIns="109728">
            <a:spAutoFit/>
          </a:bodyPr>
          <a:lstStyle/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// main.jsx</a:t>
            </a:r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&lt;PlayerProvider&gt;</a:t>
            </a:r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  &lt;App /&gt;</a:t>
            </a:r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&lt;/PlayerProvider&gt;</a:t>
            </a:r>
            <a:endParaRPr lang="en-US"/>
          </a:p>
          <a:p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// PlayerContext.jsx</a:t>
            </a:r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const [currentId, setCurrentId] = useState(null)</a:t>
            </a:r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const [recentTrackIds, setRecentTrackIds] = useState(readRecentTracks)</a:t>
            </a:r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850392" y="5340096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000" b="0">
                <a:solidFill>
                  <a:srgbClr val="B8C1BB"/>
                </a:solidFill>
                <a:latin typeface="Aptos"/>
              </a:rPr>
              <a:t>usePlayer() exposes provider state and actions to player views.</a:t>
            </a:r>
            <a:endParaRPr lang="en-US"/>
          </a:p>
        </p:txBody>
      </p:sp>
      <p:sp>
        <p:nvSpPr>
          <p:cNvPr id="12" name="Panel"/>
          <p:cNvSpPr/>
          <p:nvPr/>
        </p:nvSpPr>
        <p:spPr>
          <a:xfrm>
            <a:off x="6199632" y="1847088"/>
            <a:ext cx="5321808" cy="4050792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3" name="Text 13"/>
          <p:cNvSpPr/>
          <p:nvPr/>
        </p:nvSpPr>
        <p:spPr>
          <a:xfrm>
            <a:off x="6428232" y="205740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1">
                <a:solidFill>
                  <a:srgbClr val="F5F7F5"/>
                </a:solidFill>
                <a:latin typeface="Aptos"/>
              </a:rPr>
              <a:t>Controlled email form</a:t>
            </a:r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6428232" y="2560320"/>
            <a:ext cx="4800600" cy="2615184"/>
          </a:xfrm>
          <a:prstGeom prst="roundRect">
            <a:avLst/>
          </a:prstGeom>
          <a:solidFill>
            <a:srgbClr val="121614"/>
          </a:solidFill>
          <a:ln>
            <a:noFill/>
          </a:ln>
        </p:spPr>
        <p:txBody>
          <a:bodyPr wrap="square" lIns="109728" rIns="109728" tIns="109728" bIns="109728">
            <a:spAutoFit/>
          </a:bodyPr>
          <a:lstStyle/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const [email, setEmail] = useState('')</a:t>
            </a:r>
            <a:endParaRPr lang="en-US"/>
          </a:p>
          <a:p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const trimmedEmail = email.trim()</a:t>
            </a:r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if (!trimmedEmail) {</a:t>
            </a:r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  setError('Enter your email address.')</a:t>
            </a:r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  return</a:t>
            </a:r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}</a:t>
            </a:r>
            <a:endParaRPr lang="en-US"/>
          </a:p>
          <a:p>
            <a:endParaRPr lang="en-US"/>
          </a:p>
          <a:p>
            <a:pPr algn="l"/>
            <a:r>
              <a:rPr lang="en-US" sz="1000" b="0">
                <a:solidFill>
                  <a:srgbClr val="D9E5DD"/>
                </a:solidFill>
                <a:latin typeface="Consolas"/>
              </a:rPr>
              <a:t>// Demo message only; not sent or saved.</a:t>
            </a:r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6428232" y="5340096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000" b="0">
                <a:solidFill>
                  <a:srgbClr val="B8C1BB"/>
                </a:solidFill>
                <a:latin typeface="Aptos"/>
              </a:rPr>
              <a:t>AuthPage handles submit, labels, and accessible error text.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Testing and limitations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40817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000" b="1">
                <a:solidFill>
                  <a:srgbClr val="1ED760"/>
                </a:solidFill>
                <a:latin typeface="Aptos"/>
              </a:rPr>
              <a:t>REPORTED VALIDATION FROM THE EXISTING PROJECT PASS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621792" y="1810512"/>
            <a:ext cx="10899648" cy="51206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9" name="Text 9"/>
          <p:cNvSpPr/>
          <p:nvPr/>
        </p:nvSpPr>
        <p:spPr>
          <a:xfrm>
            <a:off x="822960" y="19385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300" b="1">
                <a:solidFill>
                  <a:srgbClr val="F5F7F5"/>
                </a:solidFill>
                <a:latin typeface="Aptos"/>
              </a:rPr>
              <a:t>Build</a:t>
            </a:r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2697480" y="1929384"/>
            <a:ext cx="8549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npm.cmd run build passed during this presentation task.</a:t>
            </a:r>
            <a:endParaRPr lang="en-US"/>
          </a:p>
        </p:txBody>
      </p:sp>
      <p:sp>
        <p:nvSpPr>
          <p:cNvPr id="11" name="Panel"/>
          <p:cNvSpPr/>
          <p:nvPr/>
        </p:nvSpPr>
        <p:spPr>
          <a:xfrm>
            <a:off x="621792" y="2468880"/>
            <a:ext cx="10899648" cy="51206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2" name="Text 12"/>
          <p:cNvSpPr/>
          <p:nvPr/>
        </p:nvSpPr>
        <p:spPr>
          <a:xfrm>
            <a:off x="822960" y="2596896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300" b="1">
                <a:solidFill>
                  <a:srgbClr val="F5F7F5"/>
                </a:solidFill>
                <a:latin typeface="Aptos"/>
              </a:rPr>
              <a:t>Lint</a:t>
            </a:r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2697480" y="2587752"/>
            <a:ext cx="8549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npm.cmd run lint passed during this presentation task.</a:t>
            </a:r>
            <a:endParaRPr lang="en-US"/>
          </a:p>
        </p:txBody>
      </p:sp>
      <p:sp>
        <p:nvSpPr>
          <p:cNvPr id="14" name="Panel"/>
          <p:cNvSpPr/>
          <p:nvPr/>
        </p:nvSpPr>
        <p:spPr>
          <a:xfrm>
            <a:off x="621792" y="3127248"/>
            <a:ext cx="10899648" cy="51206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5" name="Text 15"/>
          <p:cNvSpPr/>
          <p:nvPr/>
        </p:nvSpPr>
        <p:spPr>
          <a:xfrm>
            <a:off x="822960" y="3255264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300" b="1">
                <a:solidFill>
                  <a:srgbClr val="F5F7F5"/>
                </a:solidFill>
                <a:latin typeface="Aptos"/>
              </a:rPr>
              <a:t>Static routes</a:t>
            </a:r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2697480" y="3246120"/>
            <a:ext cx="8549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Routes were inspected; Vite returned HTTP 200 for checked destinations.</a:t>
            </a:r>
            <a:endParaRPr lang="en-US"/>
          </a:p>
        </p:txBody>
      </p:sp>
      <p:sp>
        <p:nvSpPr>
          <p:cNvPr id="17" name="Panel"/>
          <p:cNvSpPr/>
          <p:nvPr/>
        </p:nvSpPr>
        <p:spPr>
          <a:xfrm>
            <a:off x="621792" y="3785616"/>
            <a:ext cx="10899648" cy="51206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18" name="Text 18"/>
          <p:cNvSpPr/>
          <p:nvPr/>
        </p:nvSpPr>
        <p:spPr>
          <a:xfrm>
            <a:off x="822960" y="391363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300" b="1">
                <a:solidFill>
                  <a:srgbClr val="F5F7F5"/>
                </a:solidFill>
                <a:latin typeface="Aptos"/>
              </a:rPr>
              <a:t>Rendering</a:t>
            </a:r>
            <a:endParaRPr lang="en-US"/>
          </a:p>
        </p:txBody>
      </p:sp>
      <p:sp>
        <p:nvSpPr>
          <p:cNvPr id="19" name="Text 19"/>
          <p:cNvSpPr/>
          <p:nvPr/>
        </p:nvSpPr>
        <p:spPr>
          <a:xfrm>
            <a:off x="2697480" y="3904488"/>
            <a:ext cx="8549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HTTP 200 confirms an app shell response, not a rendered React route.</a:t>
            </a:r>
            <a:endParaRPr lang="en-US"/>
          </a:p>
        </p:txBody>
      </p:sp>
      <p:sp>
        <p:nvSpPr>
          <p:cNvPr id="20" name="Panel"/>
          <p:cNvSpPr/>
          <p:nvPr/>
        </p:nvSpPr>
        <p:spPr>
          <a:xfrm>
            <a:off x="621792" y="4443984"/>
            <a:ext cx="10899648" cy="51206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1" name="Text 21"/>
          <p:cNvSpPr/>
          <p:nvPr/>
        </p:nvSpPr>
        <p:spPr>
          <a:xfrm>
            <a:off x="822960" y="457200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300" b="1">
                <a:solidFill>
                  <a:srgbClr val="F5F7F5"/>
                </a:solidFill>
                <a:latin typeface="Aptos"/>
              </a:rPr>
              <a:t>Browser QA</a:t>
            </a:r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2697480" y="4562856"/>
            <a:ext cx="8549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Rendered layouts, interactions, console, and responsive behavior remain unverified.</a:t>
            </a:r>
            <a:endParaRPr lang="en-US"/>
          </a:p>
        </p:txBody>
      </p:sp>
      <p:sp>
        <p:nvSpPr>
          <p:cNvPr id="23" name="Panel"/>
          <p:cNvSpPr/>
          <p:nvPr/>
        </p:nvSpPr>
        <p:spPr>
          <a:xfrm>
            <a:off x="621792" y="5102352"/>
            <a:ext cx="10899648" cy="512064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</p:sp>
      <p:sp>
        <p:nvSpPr>
          <p:cNvPr id="24" name="Text 24"/>
          <p:cNvSpPr/>
          <p:nvPr/>
        </p:nvSpPr>
        <p:spPr>
          <a:xfrm>
            <a:off x="822960" y="523036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300" b="1">
                <a:solidFill>
                  <a:srgbClr val="F5F7F5"/>
                </a:solidFill>
                <a:latin typeface="Aptos"/>
              </a:rPr>
              <a:t>Local import</a:t>
            </a:r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2697480" y="5221224"/>
            <a:ext cx="8549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0">
                <a:solidFill>
                  <a:srgbClr val="B8C1BB"/>
                </a:solidFill>
                <a:latin typeface="Aptos"/>
              </a:rPr>
              <a:t>Importing and playing personal files was not tested.</a:t>
            </a:r>
            <a:endParaRPr lang="en-US"/>
          </a:p>
        </p:txBody>
      </p:sp>
      <p:sp>
        <p:nvSpPr>
          <p:cNvPr id="26" name="Text 26"/>
          <p:cNvSpPr/>
          <p:nvPr/>
        </p:nvSpPr>
        <p:spPr>
          <a:xfrm>
            <a:off x="640080" y="591616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200" b="0">
                <a:solidFill>
                  <a:srgbClr val="71D8BE"/>
                </a:solidFill>
                <a:latin typeface="Aptos"/>
              </a:rPr>
              <a:t>No browser automation or screenshot rendering tool was available in this environment.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0352" y="29260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900" b="1">
                <a:solidFill>
                  <a:srgbClr val="1ED760"/>
                </a:solidFill>
                <a:latin typeface="Aptos"/>
              </a:rPr>
              <a:t>PULSEWAVE PROJECT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30352" y="62179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2500" b="1">
                <a:solidFill>
                  <a:srgbClr val="F5F7F5"/>
                </a:solidFill>
                <a:latin typeface="Aptos"/>
              </a:rPr>
              <a:t>Conclusion and future scope</a:t>
            </a:r>
            <a:endParaRPr lang="en-US"/>
          </a:p>
        </p:txBody>
      </p:sp>
      <p:sp>
        <p:nvSpPr>
          <p:cNvPr id="4" name="Panel"/>
          <p:cNvSpPr/>
          <p:nvPr/>
        </p:nvSpPr>
        <p:spPr>
          <a:xfrm>
            <a:off x="530352" y="1188720"/>
            <a:ext cx="274320" cy="41148"/>
          </a:xfrm>
          <a:prstGeom prst="rect">
            <a:avLst/>
          </a:prstGeom>
          <a:solidFill>
            <a:srgbClr val="1ED760"/>
          </a:solidFill>
          <a:ln>
            <a:noFill/>
          </a:ln>
        </p:spPr>
      </p:sp>
      <p:sp>
        <p:nvSpPr>
          <p:cNvPr id="5" name="Panel"/>
          <p:cNvSpPr/>
          <p:nvPr/>
        </p:nvSpPr>
        <p:spPr>
          <a:xfrm>
            <a:off x="530352" y="6473952"/>
            <a:ext cx="11137392" cy="10973"/>
          </a:xfrm>
          <a:prstGeom prst="rect">
            <a:avLst/>
          </a:prstGeom>
          <a:solidFill>
            <a:srgbClr val="39413D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30352" y="6528816"/>
            <a:ext cx="7315200" cy="14630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lang="en-US" sz="800" b="0">
                <a:solidFill>
                  <a:srgbClr val="B8C1BB"/>
                </a:solidFill>
                <a:latin typeface="Aptos"/>
              </a:rPr>
              <a:t>FRONT END ENGINEERING-II  /  PULSEWAVE</a:t>
            </a:r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621792" y="1463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200" b="1">
                <a:solidFill>
                  <a:srgbClr val="F5F7F5"/>
                </a:solidFill>
                <a:latin typeface="Aptos"/>
              </a:rPr>
              <a:t>Pulsewave demonstrates a connected, component-based frontend for music discovery and playback.</a:t>
            </a:r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621792" y="2267712"/>
            <a:ext cx="107899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00" b="0">
                <a:solidFill>
                  <a:srgbClr val="B8C1BB"/>
                </a:solidFill>
                <a:latin typeface="Aptos"/>
              </a:rPr>
              <a:t>The application combines public-facing pages with a local player, playlists, queue, likes, search, recent history, and browser-based audio import.</a:t>
            </a:r>
            <a:endParaRPr lang="en-US"/>
          </a:p>
        </p:txBody>
      </p:sp>
      <p:sp>
        <p:nvSpPr>
          <p:cNvPr id="9" name="Text 9"/>
          <p:cNvSpPr/>
          <p:nvPr/>
        </p:nvSpPr>
        <p:spPr>
          <a:xfrm>
            <a:off x="621792" y="332841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1">
                <a:solidFill>
                  <a:srgbClr val="1ED760"/>
                </a:solidFill>
                <a:latin typeface="Aptos"/>
              </a:rPr>
              <a:t>IMPLEMENTED IN THIS FRONTEND DEMO</a:t>
            </a:r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621792" y="3712464"/>
            <a:ext cx="5303520" cy="1325880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  <p:txBody>
          <a:bodyPr wrap="square" lIns="146304" rIns="146304" tIns="146304" bIns="146304">
            <a:spAutoFit/>
          </a:bodyPr>
          <a:lstStyle/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Public homepage and demo account pages</a:t>
            </a:r>
            <a:endParaRPr lang="en-US"/>
          </a:p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React player with shared state</a:t>
            </a:r>
            <a:endParaRPr lang="en-US"/>
          </a:p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Playlists, search, queue, likes, and history</a:t>
            </a:r>
            <a:endParaRPr lang="en-US"/>
          </a:p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Local audio import workflow</a:t>
            </a:r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6254496" y="3328416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100" b="1">
                <a:solidFill>
                  <a:srgbClr val="71D8BE"/>
                </a:solidFill>
                <a:latin typeface="Aptos"/>
              </a:rPr>
              <a:t>FUTURE SCOPE</a:t>
            </a:r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6254496" y="3712464"/>
            <a:ext cx="5303520" cy="1325880"/>
          </a:xfrm>
          <a:prstGeom prst="roundRect">
            <a:avLst/>
          </a:prstGeom>
          <a:solidFill>
            <a:srgbClr val="1B201E"/>
          </a:solidFill>
          <a:ln w="12700">
            <a:solidFill>
              <a:srgbClr val="39413D"/>
            </a:solidFill>
          </a:ln>
        </p:spPr>
        <p:txBody>
          <a:bodyPr wrap="square" lIns="146304" rIns="146304" tIns="146304" bIns="146304">
            <a:spAutoFit/>
          </a:bodyPr>
          <a:lstStyle/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Real authentication and backend</a:t>
            </a:r>
            <a:endParaRPr lang="en-US"/>
          </a:p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Remote licensed music catalogue</a:t>
            </a:r>
            <a:endParaRPr lang="en-US"/>
          </a:p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Cloud library persistence</a:t>
            </a:r>
            <a:endParaRPr lang="en-US"/>
          </a:p>
          <a:p>
            <a:pPr algn="l"/>
            <a:r>
              <a:rPr lang="en-US" sz="1300" b="0">
                <a:solidFill>
                  <a:srgbClr val="F5F7F5"/>
                </a:solidFill>
                <a:latin typeface="Aptos"/>
              </a:rPr>
              <a:t>Subscription integration</a:t>
            </a:r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621792" y="5504688"/>
            <a:ext cx="107899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lang="en-US" sz="2400" b="1">
                <a:solidFill>
                  <a:srgbClr val="1ED760"/>
                </a:solidFill>
                <a:latin typeface="Aptos"/>
              </a:rPr>
              <a:t>Thank you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lsewave">
  <a:themeElements>
    <a:clrScheme name="Pulsewave">
      <a:dk1>
        <a:srgbClr val="101211"/>
      </a:dk1>
      <a:lt1>
        <a:srgbClr val="F5F7F5"/>
      </a:lt1>
      <a:dk2>
        <a:srgbClr val="1B201E"/>
      </a:dk2>
      <a:lt2>
        <a:srgbClr val="B8C1BB"/>
      </a:lt2>
      <a:accent1>
        <a:srgbClr val="1ED760"/>
      </a:accent1>
      <a:accent2>
        <a:srgbClr val="71D8BE"/>
      </a:accent2>
      <a:accent3>
        <a:srgbClr val="B1A4FF"/>
      </a:accent3>
      <a:accent4>
        <a:srgbClr val="39413D"/>
      </a:accent4>
      <a:accent5>
        <a:srgbClr val="8C9D92"/>
      </a:accent5>
      <a:accent6>
        <a:srgbClr val="252C28"/>
      </a:accent6>
      <a:hlink>
        <a:srgbClr val="1ED760"/>
      </a:hlink>
      <a:folHlink>
        <a:srgbClr val="71D8BE"/>
      </a:folHlink>
    </a:clrScheme>
    <a:fontScheme name="Pulsewave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ulsewav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7620">
          <a:solidFill>
            <a:schemeClr val="phClr"/>
          </a:solidFill>
        </a:ln>
        <a:ln w="889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